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 MT" charset="1" panose="02030502070405020303"/>
      <p:regular r:id="rId17"/>
    </p:embeddedFont>
    <p:embeddedFont>
      <p:font typeface="Arimo Bold" charset="1" panose="020B0704020202020204"/>
      <p:regular r:id="rId18"/>
    </p:embeddedFont>
    <p:embeddedFont>
      <p:font typeface="Times New Roman MT Bold" charset="1" panose="02030802070405020303"/>
      <p:regular r:id="rId19"/>
    </p:embeddedFont>
    <p:embeddedFont>
      <p:font typeface="Inter Bold" charset="1" panose="020B0802030000000004"/>
      <p:regular r:id="rId20"/>
    </p:embeddedFont>
    <p:embeddedFont>
      <p:font typeface="Inter" charset="1" panose="020B0502030000000004"/>
      <p:regular r:id="rId21"/>
    </p:embeddedFont>
    <p:embeddedFont>
      <p:font typeface="Autograph Bold" charset="1" panose="010005030000000200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0921" y="3418068"/>
            <a:ext cx="13766158" cy="197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3"/>
              </a:lnSpc>
            </a:pPr>
            <a:r>
              <a:rPr lang="en-US" sz="12599">
                <a:solidFill>
                  <a:srgbClr val="4245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ENTITY PULSE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3919502" y="775002"/>
            <a:ext cx="5063590" cy="3673405"/>
          </a:xfrm>
          <a:custGeom>
            <a:avLst/>
            <a:gdLst/>
            <a:ahLst/>
            <a:cxnLst/>
            <a:rect r="r" b="b" t="t" l="l"/>
            <a:pathLst>
              <a:path h="3673405" w="5063590">
                <a:moveTo>
                  <a:pt x="0" y="0"/>
                </a:moveTo>
                <a:lnTo>
                  <a:pt x="5063591" y="0"/>
                </a:lnTo>
                <a:lnTo>
                  <a:pt x="5063591" y="3673405"/>
                </a:lnTo>
                <a:lnTo>
                  <a:pt x="0" y="3673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83234" y="6199453"/>
            <a:ext cx="3980941" cy="252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Presented by 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Jayashree Indrani  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G579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23BD1A051Z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5400000">
            <a:off x="13919502" y="6083679"/>
            <a:ext cx="5063590" cy="3673405"/>
          </a:xfrm>
          <a:custGeom>
            <a:avLst/>
            <a:gdLst/>
            <a:ahLst/>
            <a:cxnLst/>
            <a:rect r="r" b="b" t="t" l="l"/>
            <a:pathLst>
              <a:path h="3673405" w="5063590">
                <a:moveTo>
                  <a:pt x="5063591" y="0"/>
                </a:moveTo>
                <a:lnTo>
                  <a:pt x="0" y="0"/>
                </a:lnTo>
                <a:lnTo>
                  <a:pt x="0" y="3673404"/>
                </a:lnTo>
                <a:lnTo>
                  <a:pt x="5063591" y="3673404"/>
                </a:lnTo>
                <a:lnTo>
                  <a:pt x="506359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5400000">
            <a:off x="-695093" y="652459"/>
            <a:ext cx="5063590" cy="3673405"/>
          </a:xfrm>
          <a:custGeom>
            <a:avLst/>
            <a:gdLst/>
            <a:ahLst/>
            <a:cxnLst/>
            <a:rect r="r" b="b" t="t" l="l"/>
            <a:pathLst>
              <a:path h="3673405" w="5063590">
                <a:moveTo>
                  <a:pt x="0" y="3673405"/>
                </a:moveTo>
                <a:lnTo>
                  <a:pt x="5063591" y="3673405"/>
                </a:lnTo>
                <a:lnTo>
                  <a:pt x="5063591" y="0"/>
                </a:lnTo>
                <a:lnTo>
                  <a:pt x="0" y="0"/>
                </a:lnTo>
                <a:lnTo>
                  <a:pt x="0" y="3673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5400000">
            <a:off x="-695093" y="5961136"/>
            <a:ext cx="5063590" cy="3673405"/>
          </a:xfrm>
          <a:custGeom>
            <a:avLst/>
            <a:gdLst/>
            <a:ahLst/>
            <a:cxnLst/>
            <a:rect r="r" b="b" t="t" l="l"/>
            <a:pathLst>
              <a:path h="3673405" w="5063590">
                <a:moveTo>
                  <a:pt x="5063591" y="3673405"/>
                </a:moveTo>
                <a:lnTo>
                  <a:pt x="0" y="3673405"/>
                </a:lnTo>
                <a:lnTo>
                  <a:pt x="0" y="0"/>
                </a:lnTo>
                <a:lnTo>
                  <a:pt x="5063591" y="0"/>
                </a:lnTo>
                <a:lnTo>
                  <a:pt x="5063591" y="3673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34477" y="5871181"/>
            <a:ext cx="7908988" cy="3232296"/>
          </a:xfrm>
          <a:custGeom>
            <a:avLst/>
            <a:gdLst/>
            <a:ahLst/>
            <a:cxnLst/>
            <a:rect r="r" b="b" t="t" l="l"/>
            <a:pathLst>
              <a:path h="3232296" w="7908988">
                <a:moveTo>
                  <a:pt x="0" y="0"/>
                </a:moveTo>
                <a:lnTo>
                  <a:pt x="7908987" y="0"/>
                </a:lnTo>
                <a:lnTo>
                  <a:pt x="7908987" y="3232297"/>
                </a:lnTo>
                <a:lnTo>
                  <a:pt x="0" y="3232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40" t="-59690" r="-5488" b="-1403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86845" y="7683772"/>
            <a:ext cx="726391" cy="377565"/>
            <a:chOff x="0" y="0"/>
            <a:chExt cx="191313" cy="994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313" cy="99441"/>
            </a:xfrm>
            <a:custGeom>
              <a:avLst/>
              <a:gdLst/>
              <a:ahLst/>
              <a:cxnLst/>
              <a:rect r="r" b="b" t="t" l="l"/>
              <a:pathLst>
                <a:path h="99441" w="191313">
                  <a:moveTo>
                    <a:pt x="0" y="0"/>
                  </a:moveTo>
                  <a:lnTo>
                    <a:pt x="191313" y="0"/>
                  </a:lnTo>
                  <a:lnTo>
                    <a:pt x="191313" y="99441"/>
                  </a:lnTo>
                  <a:lnTo>
                    <a:pt x="0" y="9944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1313" cy="137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34477" y="2864013"/>
            <a:ext cx="5601801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b="true" sz="3799" spc="37">
                <a:solidFill>
                  <a:srgbClr val="49A23A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767" y="3610773"/>
            <a:ext cx="8245554" cy="621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Mos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financial sentiment tools read the headline, not the story.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They capture the overall tone of a news piece, missing how each compa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ny or stock is in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vidu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ally portrayed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Financial news often mentions mu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ple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enti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 wi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 opposite sentiments, reducing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accura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cy.</a:t>
            </a:r>
          </a:p>
          <a:p>
            <a:pPr algn="just" marL="1252221" indent="-417407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Exampl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“Apple’s 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tock climbed, while Google and Spotify saw slight declines.”</a:t>
            </a:r>
          </a:p>
          <a:p>
            <a:pPr algn="just" marL="1252221" indent="-417407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49A2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Positive 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Apple, </a:t>
            </a:r>
            <a:r>
              <a:rPr lang="en-US" sz="2900">
                <a:solidFill>
                  <a:srgbClr val="FF313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Negative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Google and Spotify.</a:t>
            </a:r>
          </a:p>
          <a:p>
            <a:pPr algn="just">
              <a:lnSpc>
                <a:spcPts val="40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127077" y="402191"/>
            <a:ext cx="10522964" cy="6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b="true" sz="5498" spc="5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PROJECT OVERVIEW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8927" y="1270798"/>
            <a:ext cx="15999998" cy="106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oj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aims to interpret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sentiments from financial new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by identifying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how indiv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idual companies, sectors, or assets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</a:t>
            </a: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 portrayed within a text.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3036" y="2854488"/>
            <a:ext cx="8491063" cy="4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b="true" sz="3699" spc="3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PROBLEM IN EXISTING SYSTEMS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19648" y="3496386"/>
            <a:ext cx="7839652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model </a:t>
            </a: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that detects </a:t>
            </a:r>
            <a:r>
              <a:rPr lang="en-US" b="true" sz="28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each financial entity</a:t>
            </a: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</a:t>
            </a: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</a:t>
            </a: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ews</a:t>
            </a: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text and determines whe</a:t>
            </a: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</a:t>
            </a: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 the sentiment toward it is Positive, Neutral, or Negative.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0640" y="824788"/>
            <a:ext cx="13555925" cy="9253596"/>
          </a:xfrm>
          <a:custGeom>
            <a:avLst/>
            <a:gdLst/>
            <a:ahLst/>
            <a:cxnLst/>
            <a:rect r="r" b="b" t="t" l="l"/>
            <a:pathLst>
              <a:path h="9253596" w="13555925">
                <a:moveTo>
                  <a:pt x="0" y="0"/>
                </a:moveTo>
                <a:lnTo>
                  <a:pt x="13555925" y="0"/>
                </a:lnTo>
                <a:lnTo>
                  <a:pt x="13555925" y="9253596"/>
                </a:lnTo>
                <a:lnTo>
                  <a:pt x="0" y="925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4" t="0" r="-169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590668" y="93268"/>
            <a:ext cx="5594987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900" spc="3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ARCHITECTURE DIAGRAM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25854" y="630030"/>
            <a:ext cx="2962146" cy="9643114"/>
          </a:xfrm>
          <a:custGeom>
            <a:avLst/>
            <a:gdLst/>
            <a:ahLst/>
            <a:cxnLst/>
            <a:rect r="r" b="b" t="t" l="l"/>
            <a:pathLst>
              <a:path h="9643114" w="2962146">
                <a:moveTo>
                  <a:pt x="0" y="0"/>
                </a:moveTo>
                <a:lnTo>
                  <a:pt x="2962146" y="0"/>
                </a:lnTo>
                <a:lnTo>
                  <a:pt x="2962146" y="9643113"/>
                </a:lnTo>
                <a:lnTo>
                  <a:pt x="0" y="9643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654" t="-10429" r="0" b="-202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507705" y="112318"/>
            <a:ext cx="4299222" cy="101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3"/>
              </a:lnSpc>
              <a:spcBef>
                <a:spcPct val="0"/>
              </a:spcBef>
            </a:pPr>
            <a:r>
              <a:rPr lang="en-US" b="true" sz="2866" spc="2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SENTIMENT ANALYSIS FLOWCHART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60444" y="5695950"/>
            <a:ext cx="1389572" cy="1389572"/>
          </a:xfrm>
          <a:custGeom>
            <a:avLst/>
            <a:gdLst/>
            <a:ahLst/>
            <a:cxnLst/>
            <a:rect r="r" b="b" t="t" l="l"/>
            <a:pathLst>
              <a:path h="1389572" w="1389572">
                <a:moveTo>
                  <a:pt x="0" y="0"/>
                </a:moveTo>
                <a:lnTo>
                  <a:pt x="1389572" y="0"/>
                </a:lnTo>
                <a:lnTo>
                  <a:pt x="1389572" y="1389572"/>
                </a:lnTo>
                <a:lnTo>
                  <a:pt x="0" y="1389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39966" y="7598903"/>
            <a:ext cx="2830528" cy="1659397"/>
          </a:xfrm>
          <a:custGeom>
            <a:avLst/>
            <a:gdLst/>
            <a:ahLst/>
            <a:cxnLst/>
            <a:rect r="r" b="b" t="t" l="l"/>
            <a:pathLst>
              <a:path h="1659397" w="2830528">
                <a:moveTo>
                  <a:pt x="0" y="0"/>
                </a:moveTo>
                <a:lnTo>
                  <a:pt x="2830528" y="0"/>
                </a:lnTo>
                <a:lnTo>
                  <a:pt x="2830528" y="1659397"/>
                </a:lnTo>
                <a:lnTo>
                  <a:pt x="0" y="1659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5951" y="6318925"/>
            <a:ext cx="1834113" cy="1834113"/>
          </a:xfrm>
          <a:custGeom>
            <a:avLst/>
            <a:gdLst/>
            <a:ahLst/>
            <a:cxnLst/>
            <a:rect r="r" b="b" t="t" l="l"/>
            <a:pathLst>
              <a:path h="1834113" w="1834113">
                <a:moveTo>
                  <a:pt x="0" y="0"/>
                </a:moveTo>
                <a:lnTo>
                  <a:pt x="1834113" y="0"/>
                </a:lnTo>
                <a:lnTo>
                  <a:pt x="1834113" y="1834113"/>
                </a:lnTo>
                <a:lnTo>
                  <a:pt x="0" y="1834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96450" y="5695950"/>
            <a:ext cx="2617128" cy="1055040"/>
          </a:xfrm>
          <a:custGeom>
            <a:avLst/>
            <a:gdLst/>
            <a:ahLst/>
            <a:cxnLst/>
            <a:rect r="r" b="b" t="t" l="l"/>
            <a:pathLst>
              <a:path h="1055040" w="2617128">
                <a:moveTo>
                  <a:pt x="0" y="0"/>
                </a:moveTo>
                <a:lnTo>
                  <a:pt x="2617128" y="0"/>
                </a:lnTo>
                <a:lnTo>
                  <a:pt x="2617128" y="1055040"/>
                </a:lnTo>
                <a:lnTo>
                  <a:pt x="0" y="1055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126" r="-6588" b="-954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91435" y="7235982"/>
            <a:ext cx="2227158" cy="1364134"/>
          </a:xfrm>
          <a:custGeom>
            <a:avLst/>
            <a:gdLst/>
            <a:ahLst/>
            <a:cxnLst/>
            <a:rect r="r" b="b" t="t" l="l"/>
            <a:pathLst>
              <a:path h="1364134" w="2227158">
                <a:moveTo>
                  <a:pt x="0" y="0"/>
                </a:moveTo>
                <a:lnTo>
                  <a:pt x="2227158" y="0"/>
                </a:lnTo>
                <a:lnTo>
                  <a:pt x="2227158" y="1364134"/>
                </a:lnTo>
                <a:lnTo>
                  <a:pt x="0" y="1364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45192" y="8600116"/>
            <a:ext cx="3030450" cy="1335686"/>
          </a:xfrm>
          <a:custGeom>
            <a:avLst/>
            <a:gdLst/>
            <a:ahLst/>
            <a:cxnLst/>
            <a:rect r="r" b="b" t="t" l="l"/>
            <a:pathLst>
              <a:path h="1335686" w="3030450">
                <a:moveTo>
                  <a:pt x="0" y="0"/>
                </a:moveTo>
                <a:lnTo>
                  <a:pt x="3030449" y="0"/>
                </a:lnTo>
                <a:lnTo>
                  <a:pt x="3030449" y="1335686"/>
                </a:lnTo>
                <a:lnTo>
                  <a:pt x="0" y="13356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719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72568" y="6110792"/>
            <a:ext cx="1751242" cy="1751242"/>
          </a:xfrm>
          <a:custGeom>
            <a:avLst/>
            <a:gdLst/>
            <a:ahLst/>
            <a:cxnLst/>
            <a:rect r="r" b="b" t="t" l="l"/>
            <a:pathLst>
              <a:path h="1751242" w="1751242">
                <a:moveTo>
                  <a:pt x="0" y="0"/>
                </a:moveTo>
                <a:lnTo>
                  <a:pt x="1751242" y="0"/>
                </a:lnTo>
                <a:lnTo>
                  <a:pt x="1751242" y="1751242"/>
                </a:lnTo>
                <a:lnTo>
                  <a:pt x="0" y="17512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43450" y="6110792"/>
            <a:ext cx="2209951" cy="1807257"/>
          </a:xfrm>
          <a:custGeom>
            <a:avLst/>
            <a:gdLst/>
            <a:ahLst/>
            <a:cxnLst/>
            <a:rect r="r" b="b" t="t" l="l"/>
            <a:pathLst>
              <a:path h="1807257" w="2209951">
                <a:moveTo>
                  <a:pt x="0" y="0"/>
                </a:moveTo>
                <a:lnTo>
                  <a:pt x="2209951" y="0"/>
                </a:lnTo>
                <a:lnTo>
                  <a:pt x="2209951" y="1807257"/>
                </a:lnTo>
                <a:lnTo>
                  <a:pt x="0" y="18072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782" t="-17326" r="-33244" b="-1659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99641" y="8428601"/>
            <a:ext cx="1430929" cy="1430929"/>
          </a:xfrm>
          <a:custGeom>
            <a:avLst/>
            <a:gdLst/>
            <a:ahLst/>
            <a:cxnLst/>
            <a:rect r="r" b="b" t="t" l="l"/>
            <a:pathLst>
              <a:path h="1430929" w="1430929">
                <a:moveTo>
                  <a:pt x="0" y="0"/>
                </a:moveTo>
                <a:lnTo>
                  <a:pt x="1430929" y="0"/>
                </a:lnTo>
                <a:lnTo>
                  <a:pt x="1430929" y="1430929"/>
                </a:lnTo>
                <a:lnTo>
                  <a:pt x="0" y="14309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865924" y="712478"/>
            <a:ext cx="7158535" cy="58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b="true" sz="4598" spc="4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TECHNOLOGY STACK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4790" y="1448117"/>
            <a:ext cx="16844510" cy="397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Progr</a:t>
            </a:r>
            <a:r>
              <a:rPr lang="en-US" b="true" sz="3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amming Languages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Py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on, JavaScript (Node.js)</a:t>
            </a:r>
          </a:p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Libraries &amp; Frameworks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PyTorch, Hugging Face Transformers, SeqEval, NumPy, Pandas, Express.js, React.js</a:t>
            </a:r>
          </a:p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Development Tools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Jupyter Notebook, Visual Studio Code (VS Code), GitHub</a:t>
            </a:r>
          </a:p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Databases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MongoDB</a:t>
            </a:r>
          </a:p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External APIs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Finnhub API, Twelvedata API</a:t>
            </a:r>
          </a:p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Deployment Platforms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Flask API, Node.js + Express Backend, GitHub Repository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82876" y="2031623"/>
          <a:ext cx="7817269" cy="5516043"/>
        </p:xfrm>
        <a:graphic>
          <a:graphicData uri="http://schemas.openxmlformats.org/drawingml/2006/table">
            <a:tbl>
              <a:tblPr/>
              <a:tblGrid>
                <a:gridCol w="2671992"/>
                <a:gridCol w="2690290"/>
                <a:gridCol w="2454987"/>
              </a:tblGrid>
              <a:tr h="8344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Traditional 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FinEntity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01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Sentiment-Scope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Entire Sentence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Each financial Entity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01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Entity Identification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Often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Precise BILOU tagging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55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Domain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General 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Finance specific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58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One sentiment for each input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Multiple sentiments for each sentence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336012" y="617859"/>
            <a:ext cx="7181113" cy="868286"/>
            <a:chOff x="0" y="0"/>
            <a:chExt cx="4568515" cy="5523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68515" cy="552390"/>
            </a:xfrm>
            <a:custGeom>
              <a:avLst/>
              <a:gdLst/>
              <a:ahLst/>
              <a:cxnLst/>
              <a:rect r="r" b="b" t="t" l="l"/>
              <a:pathLst>
                <a:path h="552390" w="4568515">
                  <a:moveTo>
                    <a:pt x="4365315" y="0"/>
                  </a:moveTo>
                  <a:cubicBezTo>
                    <a:pt x="4477539" y="0"/>
                    <a:pt x="4568515" y="123657"/>
                    <a:pt x="4568515" y="276195"/>
                  </a:cubicBezTo>
                  <a:cubicBezTo>
                    <a:pt x="4568515" y="428734"/>
                    <a:pt x="4477539" y="552390"/>
                    <a:pt x="4365315" y="552390"/>
                  </a:cubicBezTo>
                  <a:lnTo>
                    <a:pt x="203200" y="552390"/>
                  </a:lnTo>
                  <a:cubicBezTo>
                    <a:pt x="90976" y="552390"/>
                    <a:pt x="0" y="428734"/>
                    <a:pt x="0" y="276195"/>
                  </a:cubicBezTo>
                  <a:cubicBezTo>
                    <a:pt x="0" y="12365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9D2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568515" cy="619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Importance of</a:t>
              </a: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FinEntity in This Research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16929" y="496475"/>
            <a:ext cx="6027733" cy="989670"/>
            <a:chOff x="0" y="0"/>
            <a:chExt cx="1587551" cy="2606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7551" cy="260654"/>
            </a:xfrm>
            <a:custGeom>
              <a:avLst/>
              <a:gdLst/>
              <a:ahLst/>
              <a:cxnLst/>
              <a:rect r="r" b="b" t="t" l="l"/>
              <a:pathLst>
                <a:path h="260654" w="1587551">
                  <a:moveTo>
                    <a:pt x="48807" y="0"/>
                  </a:moveTo>
                  <a:lnTo>
                    <a:pt x="1538744" y="0"/>
                  </a:lnTo>
                  <a:cubicBezTo>
                    <a:pt x="1551689" y="0"/>
                    <a:pt x="1564103" y="5142"/>
                    <a:pt x="1573256" y="14295"/>
                  </a:cubicBezTo>
                  <a:cubicBezTo>
                    <a:pt x="1582409" y="23448"/>
                    <a:pt x="1587551" y="35862"/>
                    <a:pt x="1587551" y="48807"/>
                  </a:cubicBezTo>
                  <a:lnTo>
                    <a:pt x="1587551" y="211847"/>
                  </a:lnTo>
                  <a:cubicBezTo>
                    <a:pt x="1587551" y="238802"/>
                    <a:pt x="1565700" y="260654"/>
                    <a:pt x="1538744" y="260654"/>
                  </a:cubicBezTo>
                  <a:lnTo>
                    <a:pt x="48807" y="260654"/>
                  </a:lnTo>
                  <a:cubicBezTo>
                    <a:pt x="35862" y="260654"/>
                    <a:pt x="23448" y="255512"/>
                    <a:pt x="14295" y="246359"/>
                  </a:cubicBezTo>
                  <a:cubicBezTo>
                    <a:pt x="5142" y="237206"/>
                    <a:pt x="0" y="224792"/>
                    <a:pt x="0" y="211847"/>
                  </a:cubicBezTo>
                  <a:lnTo>
                    <a:pt x="0" y="48807"/>
                  </a:lnTo>
                  <a:cubicBezTo>
                    <a:pt x="0" y="35862"/>
                    <a:pt x="5142" y="23448"/>
                    <a:pt x="14295" y="14295"/>
                  </a:cubicBezTo>
                  <a:cubicBezTo>
                    <a:pt x="23448" y="5142"/>
                    <a:pt x="35862" y="0"/>
                    <a:pt x="48807" y="0"/>
                  </a:cubicBezTo>
                  <a:close/>
                </a:path>
              </a:pathLst>
            </a:custGeom>
            <a:solidFill>
              <a:srgbClr val="A9D2D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87551" cy="298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431854" y="5671107"/>
            <a:ext cx="9637381" cy="4360092"/>
          </a:xfrm>
          <a:custGeom>
            <a:avLst/>
            <a:gdLst/>
            <a:ahLst/>
            <a:cxnLst/>
            <a:rect r="r" b="b" t="t" l="l"/>
            <a:pathLst>
              <a:path h="4360092" w="9637381">
                <a:moveTo>
                  <a:pt x="0" y="0"/>
                </a:moveTo>
                <a:lnTo>
                  <a:pt x="9637380" y="0"/>
                </a:lnTo>
                <a:lnTo>
                  <a:pt x="9637380" y="4360091"/>
                </a:lnTo>
                <a:lnTo>
                  <a:pt x="0" y="4360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335" r="-4596" b="-557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716929" y="797381"/>
            <a:ext cx="5829836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b="true" sz="3799" spc="3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 SIGNIFICANCE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8163" y="1573255"/>
            <a:ext cx="9571071" cy="30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FinBERT Backbo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ne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captures domain-specific financial embeddings.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Classification Head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converts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embeddings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entity/sentiment labels.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Sof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tmax Lay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er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provides interpretable probability scores for predictions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16929" y="4875370"/>
            <a:ext cx="4699849" cy="49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b="true" sz="3799" spc="37">
                <a:solidFill>
                  <a:srgbClr val="000000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KEY PARAMETERS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6012" y="351749"/>
            <a:ext cx="7985741" cy="989670"/>
            <a:chOff x="0" y="0"/>
            <a:chExt cx="2103241" cy="260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241" cy="260654"/>
            </a:xfrm>
            <a:custGeom>
              <a:avLst/>
              <a:gdLst/>
              <a:ahLst/>
              <a:cxnLst/>
              <a:rect r="r" b="b" t="t" l="l"/>
              <a:pathLst>
                <a:path h="260654" w="2103241">
                  <a:moveTo>
                    <a:pt x="36840" y="0"/>
                  </a:moveTo>
                  <a:lnTo>
                    <a:pt x="2066401" y="0"/>
                  </a:lnTo>
                  <a:cubicBezTo>
                    <a:pt x="2076171" y="0"/>
                    <a:pt x="2085542" y="3881"/>
                    <a:pt x="2092451" y="10790"/>
                  </a:cubicBezTo>
                  <a:cubicBezTo>
                    <a:pt x="2099359" y="17699"/>
                    <a:pt x="2103241" y="27069"/>
                    <a:pt x="2103241" y="36840"/>
                  </a:cubicBezTo>
                  <a:lnTo>
                    <a:pt x="2103241" y="223814"/>
                  </a:lnTo>
                  <a:cubicBezTo>
                    <a:pt x="2103241" y="244160"/>
                    <a:pt x="2086747" y="260654"/>
                    <a:pt x="2066401" y="260654"/>
                  </a:cubicBezTo>
                  <a:lnTo>
                    <a:pt x="36840" y="260654"/>
                  </a:lnTo>
                  <a:cubicBezTo>
                    <a:pt x="27069" y="260654"/>
                    <a:pt x="17699" y="256773"/>
                    <a:pt x="10790" y="249864"/>
                  </a:cubicBezTo>
                  <a:cubicBezTo>
                    <a:pt x="3881" y="242955"/>
                    <a:pt x="0" y="233585"/>
                    <a:pt x="0" y="223814"/>
                  </a:cubicBezTo>
                  <a:lnTo>
                    <a:pt x="0" y="36840"/>
                  </a:lnTo>
                  <a:cubicBezTo>
                    <a:pt x="0" y="27069"/>
                    <a:pt x="3881" y="17699"/>
                    <a:pt x="10790" y="10790"/>
                  </a:cubicBezTo>
                  <a:cubicBezTo>
                    <a:pt x="17699" y="3881"/>
                    <a:pt x="27069" y="0"/>
                    <a:pt x="36840" y="0"/>
                  </a:cubicBezTo>
                  <a:close/>
                </a:path>
              </a:pathLst>
            </a:custGeom>
            <a:solidFill>
              <a:srgbClr val="A9D2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241" cy="308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33383" y="2308886"/>
            <a:ext cx="3089453" cy="1123717"/>
          </a:xfrm>
          <a:custGeom>
            <a:avLst/>
            <a:gdLst/>
            <a:ahLst/>
            <a:cxnLst/>
            <a:rect r="r" b="b" t="t" l="l"/>
            <a:pathLst>
              <a:path h="1123717" w="3089453">
                <a:moveTo>
                  <a:pt x="0" y="0"/>
                </a:moveTo>
                <a:lnTo>
                  <a:pt x="3089454" y="0"/>
                </a:lnTo>
                <a:lnTo>
                  <a:pt x="3089454" y="1123717"/>
                </a:lnTo>
                <a:lnTo>
                  <a:pt x="0" y="112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945" t="0" r="-2499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0970" y="3432603"/>
            <a:ext cx="7175826" cy="2152748"/>
          </a:xfrm>
          <a:custGeom>
            <a:avLst/>
            <a:gdLst/>
            <a:ahLst/>
            <a:cxnLst/>
            <a:rect r="r" b="b" t="t" l="l"/>
            <a:pathLst>
              <a:path h="2152748" w="7175826">
                <a:moveTo>
                  <a:pt x="0" y="0"/>
                </a:moveTo>
                <a:lnTo>
                  <a:pt x="7175826" y="0"/>
                </a:lnTo>
                <a:lnTo>
                  <a:pt x="7175826" y="2152748"/>
                </a:lnTo>
                <a:lnTo>
                  <a:pt x="0" y="2152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32680" y="6023501"/>
            <a:ext cx="4792405" cy="2046196"/>
          </a:xfrm>
          <a:custGeom>
            <a:avLst/>
            <a:gdLst/>
            <a:ahLst/>
            <a:cxnLst/>
            <a:rect r="r" b="b" t="t" l="l"/>
            <a:pathLst>
              <a:path h="2046196" w="4792405">
                <a:moveTo>
                  <a:pt x="0" y="0"/>
                </a:moveTo>
                <a:lnTo>
                  <a:pt x="4792405" y="0"/>
                </a:lnTo>
                <a:lnTo>
                  <a:pt x="4792405" y="2046195"/>
                </a:lnTo>
                <a:lnTo>
                  <a:pt x="0" y="2046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62932" y="2308886"/>
            <a:ext cx="5464185" cy="1680164"/>
          </a:xfrm>
          <a:custGeom>
            <a:avLst/>
            <a:gdLst/>
            <a:ahLst/>
            <a:cxnLst/>
            <a:rect r="r" b="b" t="t" l="l"/>
            <a:pathLst>
              <a:path h="1680164" w="5464185">
                <a:moveTo>
                  <a:pt x="0" y="0"/>
                </a:moveTo>
                <a:lnTo>
                  <a:pt x="5464185" y="0"/>
                </a:lnTo>
                <a:lnTo>
                  <a:pt x="5464185" y="1680164"/>
                </a:lnTo>
                <a:lnTo>
                  <a:pt x="0" y="1680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75085" y="6380633"/>
            <a:ext cx="5371965" cy="1331931"/>
          </a:xfrm>
          <a:custGeom>
            <a:avLst/>
            <a:gdLst/>
            <a:ahLst/>
            <a:cxnLst/>
            <a:rect r="r" b="b" t="t" l="l"/>
            <a:pathLst>
              <a:path h="1331931" w="5371965">
                <a:moveTo>
                  <a:pt x="0" y="0"/>
                </a:moveTo>
                <a:lnTo>
                  <a:pt x="5371965" y="0"/>
                </a:lnTo>
                <a:lnTo>
                  <a:pt x="5371965" y="1331931"/>
                </a:lnTo>
                <a:lnTo>
                  <a:pt x="0" y="1331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09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6012" y="652655"/>
            <a:ext cx="7985741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b="true" sz="3799" spc="3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MATHEMATICAL FOUNDATION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9171" y="8031596"/>
            <a:ext cx="861560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nsures the model minimizes misclassification between true and predicted sentiments.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1578401"/>
            <a:ext cx="9873948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</a:t>
            </a: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ftmax</a:t>
            </a: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Fu</a:t>
            </a: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nction for Sentiment Probabilities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5518676"/>
            <a:ext cx="9873948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Cross-E</a:t>
            </a: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ntropy Loss (used during fine-tuning)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3948" y="1578401"/>
            <a:ext cx="9873948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NER Seq</a:t>
            </a: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ue</a:t>
            </a: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nce Labeling Objective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94924" y="3950950"/>
            <a:ext cx="7132287" cy="141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toke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is labeled using the BILOU scheme → B (Beginning), I (Inside), L (Last), U (Unit), O (Outside).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73948" y="5625038"/>
            <a:ext cx="9873948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AdamW (We</a:t>
            </a:r>
            <a:r>
              <a:rPr lang="en-US" sz="3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ight Decay Optimization)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4924" y="7964921"/>
            <a:ext cx="713228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It’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 an improved version of Adam that adds weight decay (λ) to reduce overfitting.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4912" y="1649690"/>
            <a:ext cx="8239439" cy="30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ntiment Classification Model - FinBERT Sequence Classifier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 Training Loss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~0.86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Validation Loss: 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~1.24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Final Accuracy: 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~82%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Weighted F1-Score: 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~0.82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43649" y="4848766"/>
            <a:ext cx="9019909" cy="4555054"/>
          </a:xfrm>
          <a:custGeom>
            <a:avLst/>
            <a:gdLst/>
            <a:ahLst/>
            <a:cxnLst/>
            <a:rect r="r" b="b" t="t" l="l"/>
            <a:pathLst>
              <a:path h="4555054" w="9019909">
                <a:moveTo>
                  <a:pt x="0" y="0"/>
                </a:moveTo>
                <a:lnTo>
                  <a:pt x="9019910" y="0"/>
                </a:lnTo>
                <a:lnTo>
                  <a:pt x="9019910" y="4555054"/>
                </a:lnTo>
                <a:lnTo>
                  <a:pt x="0" y="45550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4200" y="1649690"/>
            <a:ext cx="9298476" cy="30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NER Mod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 Performance (FinBERT Token Classifier)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Validation Loss reduced from 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0.96 → 0.12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Accuracy reached 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96.02%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F1-Score: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0.9596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Demonstrates s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trong entity tagging withou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a CRF lay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generalized well - no overfitting observed.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349429" y="4848766"/>
            <a:ext cx="8794922" cy="3461932"/>
          </a:xfrm>
          <a:custGeom>
            <a:avLst/>
            <a:gdLst/>
            <a:ahLst/>
            <a:cxnLst/>
            <a:rect r="r" b="b" t="t" l="l"/>
            <a:pathLst>
              <a:path h="3461932" w="8794922">
                <a:moveTo>
                  <a:pt x="0" y="0"/>
                </a:moveTo>
                <a:lnTo>
                  <a:pt x="8794922" y="0"/>
                </a:lnTo>
                <a:lnTo>
                  <a:pt x="8794922" y="3461932"/>
                </a:lnTo>
                <a:lnTo>
                  <a:pt x="0" y="3461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648" r="-3986" b="-2114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693362" y="351749"/>
            <a:ext cx="7985741" cy="989670"/>
            <a:chOff x="0" y="0"/>
            <a:chExt cx="2103241" cy="2606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241" cy="260654"/>
            </a:xfrm>
            <a:custGeom>
              <a:avLst/>
              <a:gdLst/>
              <a:ahLst/>
              <a:cxnLst/>
              <a:rect r="r" b="b" t="t" l="l"/>
              <a:pathLst>
                <a:path h="260654" w="2103241">
                  <a:moveTo>
                    <a:pt x="36840" y="0"/>
                  </a:moveTo>
                  <a:lnTo>
                    <a:pt x="2066401" y="0"/>
                  </a:lnTo>
                  <a:cubicBezTo>
                    <a:pt x="2076171" y="0"/>
                    <a:pt x="2085542" y="3881"/>
                    <a:pt x="2092451" y="10790"/>
                  </a:cubicBezTo>
                  <a:cubicBezTo>
                    <a:pt x="2099359" y="17699"/>
                    <a:pt x="2103241" y="27069"/>
                    <a:pt x="2103241" y="36840"/>
                  </a:cubicBezTo>
                  <a:lnTo>
                    <a:pt x="2103241" y="223814"/>
                  </a:lnTo>
                  <a:cubicBezTo>
                    <a:pt x="2103241" y="244160"/>
                    <a:pt x="2086747" y="260654"/>
                    <a:pt x="2066401" y="260654"/>
                  </a:cubicBezTo>
                  <a:lnTo>
                    <a:pt x="36840" y="260654"/>
                  </a:lnTo>
                  <a:cubicBezTo>
                    <a:pt x="27069" y="260654"/>
                    <a:pt x="17699" y="256773"/>
                    <a:pt x="10790" y="249864"/>
                  </a:cubicBezTo>
                  <a:cubicBezTo>
                    <a:pt x="3881" y="242955"/>
                    <a:pt x="0" y="233585"/>
                    <a:pt x="0" y="223814"/>
                  </a:cubicBezTo>
                  <a:lnTo>
                    <a:pt x="0" y="36840"/>
                  </a:lnTo>
                  <a:cubicBezTo>
                    <a:pt x="0" y="27069"/>
                    <a:pt x="3881" y="17699"/>
                    <a:pt x="10790" y="10790"/>
                  </a:cubicBezTo>
                  <a:cubicBezTo>
                    <a:pt x="17699" y="3881"/>
                    <a:pt x="27069" y="0"/>
                    <a:pt x="36840" y="0"/>
                  </a:cubicBezTo>
                  <a:close/>
                </a:path>
              </a:pathLst>
            </a:custGeom>
            <a:solidFill>
              <a:srgbClr val="A9D2D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3241" cy="298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693362" y="652655"/>
            <a:ext cx="7985741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b="true" sz="3799" spc="3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PERFORMANCES METRICS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489" y="7459655"/>
            <a:ext cx="17217495" cy="251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orks 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only on English 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financial texts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; lacks multilingual support.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Requires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high computational resources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mod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 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e-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Limited training data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can affect generalization on unseen domains.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Current version 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lacks aspect-level sentiment 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interpretation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74964" y="1206302"/>
            <a:ext cx="9046290" cy="479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Gained practica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 experience in fine-tuning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FinBERT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entity-level sentiment an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alysis.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Understood the importance of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BILOU tagging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precise entity recognition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Learned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integrate Flask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(ML model) with Node.js backend for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seamless communication.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Improved skills i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evaluating NLP models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using accuracy, loss,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F1-score m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etrics.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ealized the impact of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domain-specific datasets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(like FinEntity) on model performance.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123" y="545592"/>
            <a:ext cx="5025234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b="true" sz="3799" spc="37">
                <a:solidFill>
                  <a:srgbClr val="4FB4A8"/>
                </a:solidFill>
                <a:latin typeface="Arimo Bold"/>
                <a:ea typeface="Arimo Bold"/>
                <a:cs typeface="Arimo Bold"/>
                <a:sym typeface="Arimo Bold"/>
              </a:rPr>
              <a:t>KEY LEARNINGS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123" y="6888768"/>
            <a:ext cx="9710289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b="true" sz="3799" spc="37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LIMITATIONS OF IMPLEMENTATION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54412" y="1206302"/>
            <a:ext cx="7838046" cy="479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lps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investors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track sentiment on companies 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assets.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Assists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regulators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 moni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ing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financial risks and trends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Supports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analysts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 understanding global market behavior.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Aids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media a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nd fintech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ummarizing large-scale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news sentim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ent.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</a:t>
            </a: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eful for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cryptocurrency trend and price prediction.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1254" y="545592"/>
            <a:ext cx="8329158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b="true" sz="3799" spc="37">
                <a:solidFill>
                  <a:srgbClr val="5E17EB"/>
                </a:solidFill>
                <a:latin typeface="Arimo Bold"/>
                <a:ea typeface="Arimo Bold"/>
                <a:cs typeface="Arimo Bold"/>
                <a:sym typeface="Arimo Bold"/>
              </a:rPr>
              <a:t>REAL-WORLD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41271" y="1224477"/>
            <a:ext cx="2245729" cy="2254712"/>
          </a:xfrm>
          <a:custGeom>
            <a:avLst/>
            <a:gdLst/>
            <a:ahLst/>
            <a:cxnLst/>
            <a:rect r="r" b="b" t="t" l="l"/>
            <a:pathLst>
              <a:path h="2254712" w="2245729">
                <a:moveTo>
                  <a:pt x="0" y="0"/>
                </a:moveTo>
                <a:lnTo>
                  <a:pt x="2245729" y="0"/>
                </a:lnTo>
                <a:lnTo>
                  <a:pt x="2245729" y="2254712"/>
                </a:lnTo>
                <a:lnTo>
                  <a:pt x="0" y="2254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48094" y="1848454"/>
            <a:ext cx="1006757" cy="100675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3891" lIns="43891" bIns="43891" rIns="4389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623547" y="1224477"/>
            <a:ext cx="2245729" cy="2254712"/>
          </a:xfrm>
          <a:custGeom>
            <a:avLst/>
            <a:gdLst/>
            <a:ahLst/>
            <a:cxnLst/>
            <a:rect r="r" b="b" t="t" l="l"/>
            <a:pathLst>
              <a:path h="2254712" w="2245729">
                <a:moveTo>
                  <a:pt x="0" y="0"/>
                </a:moveTo>
                <a:lnTo>
                  <a:pt x="2245730" y="0"/>
                </a:lnTo>
                <a:lnTo>
                  <a:pt x="2245730" y="2254712"/>
                </a:lnTo>
                <a:lnTo>
                  <a:pt x="0" y="2254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840720" y="1848454"/>
            <a:ext cx="1006757" cy="100675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3891" lIns="43891" bIns="43891" rIns="4389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093717" y="2032810"/>
            <a:ext cx="564210" cy="564210"/>
          </a:xfrm>
          <a:custGeom>
            <a:avLst/>
            <a:gdLst/>
            <a:ahLst/>
            <a:cxnLst/>
            <a:rect r="r" b="b" t="t" l="l"/>
            <a:pathLst>
              <a:path h="564210" w="564210">
                <a:moveTo>
                  <a:pt x="0" y="0"/>
                </a:moveTo>
                <a:lnTo>
                  <a:pt x="564210" y="0"/>
                </a:lnTo>
                <a:lnTo>
                  <a:pt x="564210" y="564210"/>
                </a:lnTo>
                <a:lnTo>
                  <a:pt x="0" y="564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12271" y="1224477"/>
            <a:ext cx="2245729" cy="2254712"/>
          </a:xfrm>
          <a:custGeom>
            <a:avLst/>
            <a:gdLst/>
            <a:ahLst/>
            <a:cxnLst/>
            <a:rect r="r" b="b" t="t" l="l"/>
            <a:pathLst>
              <a:path h="2254712" w="2245729">
                <a:moveTo>
                  <a:pt x="0" y="0"/>
                </a:moveTo>
                <a:lnTo>
                  <a:pt x="2245729" y="0"/>
                </a:lnTo>
                <a:lnTo>
                  <a:pt x="2245729" y="2254712"/>
                </a:lnTo>
                <a:lnTo>
                  <a:pt x="0" y="2254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25940" y="1848454"/>
            <a:ext cx="1006757" cy="100675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3891" lIns="43891" bIns="43891" rIns="4389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28736" y="1224477"/>
            <a:ext cx="2245729" cy="2254712"/>
          </a:xfrm>
          <a:custGeom>
            <a:avLst/>
            <a:gdLst/>
            <a:ahLst/>
            <a:cxnLst/>
            <a:rect r="r" b="b" t="t" l="l"/>
            <a:pathLst>
              <a:path h="2254712" w="2245729">
                <a:moveTo>
                  <a:pt x="0" y="0"/>
                </a:moveTo>
                <a:lnTo>
                  <a:pt x="2245729" y="0"/>
                </a:lnTo>
                <a:lnTo>
                  <a:pt x="2245729" y="2254712"/>
                </a:lnTo>
                <a:lnTo>
                  <a:pt x="0" y="2254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40285" y="1848454"/>
            <a:ext cx="1006757" cy="100675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3891" lIns="43891" bIns="43891" rIns="4389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781124" y="1224477"/>
            <a:ext cx="2245729" cy="2254712"/>
          </a:xfrm>
          <a:custGeom>
            <a:avLst/>
            <a:gdLst/>
            <a:ahLst/>
            <a:cxnLst/>
            <a:rect r="r" b="b" t="t" l="l"/>
            <a:pathLst>
              <a:path h="2254712" w="2245729">
                <a:moveTo>
                  <a:pt x="0" y="0"/>
                </a:moveTo>
                <a:lnTo>
                  <a:pt x="2245729" y="0"/>
                </a:lnTo>
                <a:lnTo>
                  <a:pt x="2245729" y="2254712"/>
                </a:lnTo>
                <a:lnTo>
                  <a:pt x="0" y="2254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4987948" y="1848454"/>
            <a:ext cx="1006757" cy="100675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3891" lIns="43891" bIns="43891" rIns="4389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614123" y="2007051"/>
            <a:ext cx="671877" cy="671877"/>
          </a:xfrm>
          <a:custGeom>
            <a:avLst/>
            <a:gdLst/>
            <a:ahLst/>
            <a:cxnLst/>
            <a:rect r="r" b="b" t="t" l="l"/>
            <a:pathLst>
              <a:path h="671877" w="671877">
                <a:moveTo>
                  <a:pt x="0" y="0"/>
                </a:moveTo>
                <a:lnTo>
                  <a:pt x="671877" y="0"/>
                </a:lnTo>
                <a:lnTo>
                  <a:pt x="671877" y="671877"/>
                </a:lnTo>
                <a:lnTo>
                  <a:pt x="0" y="6718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983164" y="1996835"/>
            <a:ext cx="692309" cy="692309"/>
          </a:xfrm>
          <a:custGeom>
            <a:avLst/>
            <a:gdLst/>
            <a:ahLst/>
            <a:cxnLst/>
            <a:rect r="r" b="b" t="t" l="l"/>
            <a:pathLst>
              <a:path h="692309" w="692309">
                <a:moveTo>
                  <a:pt x="0" y="0"/>
                </a:moveTo>
                <a:lnTo>
                  <a:pt x="692309" y="0"/>
                </a:lnTo>
                <a:lnTo>
                  <a:pt x="692309" y="692309"/>
                </a:lnTo>
                <a:lnTo>
                  <a:pt x="0" y="6923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427949" y="1984256"/>
            <a:ext cx="600346" cy="717466"/>
          </a:xfrm>
          <a:custGeom>
            <a:avLst/>
            <a:gdLst/>
            <a:ahLst/>
            <a:cxnLst/>
            <a:rect r="r" b="b" t="t" l="l"/>
            <a:pathLst>
              <a:path h="717466" w="600346">
                <a:moveTo>
                  <a:pt x="0" y="0"/>
                </a:moveTo>
                <a:lnTo>
                  <a:pt x="600346" y="0"/>
                </a:lnTo>
                <a:lnTo>
                  <a:pt x="600346" y="717467"/>
                </a:lnTo>
                <a:lnTo>
                  <a:pt x="0" y="7174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240" t="-15535" r="-24197" b="-1118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189810" y="2032810"/>
            <a:ext cx="603031" cy="603031"/>
          </a:xfrm>
          <a:custGeom>
            <a:avLst/>
            <a:gdLst/>
            <a:ahLst/>
            <a:cxnLst/>
            <a:rect r="r" b="b" t="t" l="l"/>
            <a:pathLst>
              <a:path h="603031" w="603031">
                <a:moveTo>
                  <a:pt x="0" y="0"/>
                </a:moveTo>
                <a:lnTo>
                  <a:pt x="603032" y="0"/>
                </a:lnTo>
                <a:lnTo>
                  <a:pt x="603032" y="603031"/>
                </a:lnTo>
                <a:lnTo>
                  <a:pt x="0" y="6030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76091" y="400685"/>
            <a:ext cx="10010909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0"/>
              </a:lnSpc>
            </a:pPr>
            <a:r>
              <a:rPr lang="en-US" b="true" sz="3900" spc="39">
                <a:solidFill>
                  <a:srgbClr val="083839"/>
                </a:solidFill>
                <a:latin typeface="Arimo Bold"/>
                <a:ea typeface="Arimo Bold"/>
                <a:cs typeface="Arimo Bold"/>
                <a:sym typeface="Arimo Bold"/>
              </a:rPr>
              <a:t>CHALLENGES FACED &amp; RESOLUTIONS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5053" y="3924129"/>
            <a:ext cx="3354815" cy="4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1"/>
              </a:lnSpc>
            </a:pPr>
            <a:r>
              <a:rPr lang="en-US" b="true" sz="2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1.High</a:t>
            </a:r>
            <a:r>
              <a:rPr lang="en-US" b="true" sz="2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Requirements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2182" y="4366941"/>
            <a:ext cx="2760556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educed batch size optimizes GPU usage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37248" y="3924129"/>
            <a:ext cx="3224490" cy="4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1"/>
              </a:lnSpc>
            </a:pPr>
            <a:r>
              <a:rPr lang="en-US" b="true" sz="2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Annotation</a:t>
            </a:r>
            <a:r>
              <a:rPr lang="en-US" b="true" sz="2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Mismatch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66423" y="4329203"/>
            <a:ext cx="2760556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Offs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et mapping ensures proper label alignment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70133" y="3924129"/>
            <a:ext cx="3005415" cy="4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1"/>
              </a:lnSpc>
            </a:pPr>
            <a:r>
              <a:rPr lang="en-US" b="true" sz="2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 CORS and</a:t>
            </a:r>
            <a:r>
              <a:rPr lang="en-US" b="true" sz="2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Timeout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27055" y="4366941"/>
            <a:ext cx="2948493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CORS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middleware optimizes request payloads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51188" y="3924129"/>
            <a:ext cx="3739960" cy="4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1"/>
              </a:lnSpc>
            </a:pPr>
            <a:r>
              <a:rPr lang="en-US" b="true" sz="2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4. Dataset</a:t>
            </a:r>
            <a:r>
              <a:rPr lang="en-US" b="true" sz="2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Incompatibility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08720" y="4366941"/>
            <a:ext cx="2760556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Cus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tom script maps entity spans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499292" y="3924129"/>
            <a:ext cx="3005415" cy="4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1"/>
              </a:lnSpc>
            </a:pPr>
            <a:r>
              <a:rPr lang="en-US" b="true" sz="2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5. Overfitting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23711" y="4403725"/>
            <a:ext cx="2760556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Dropou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layers prevent overfitting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6091" y="6738620"/>
            <a:ext cx="17217495" cy="251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 pla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to extend our model to handle </a:t>
            </a:r>
            <a:r>
              <a:rPr lang="en-US" sz="27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multilingual financial texts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so it can analyze news from global markets, not just English sources.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 also aim to add </a:t>
            </a: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aspect-level sentiment detection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identify what specifically drives each sentiment, like product growth, market changes, or company performance, making the analysis more detailed and useful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-180798" y="6082827"/>
            <a:ext cx="15367954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b="true" sz="3799" spc="37">
                <a:solidFill>
                  <a:srgbClr val="538AE7"/>
                </a:solidFill>
                <a:latin typeface="Arimo Bold"/>
                <a:ea typeface="Arimo Bold"/>
                <a:cs typeface="Arimo Bold"/>
                <a:sym typeface="Arimo Bold"/>
              </a:rPr>
              <a:t>RESEARCH CONTRIBUTIONS AND PLANNED IMPROVEMENTS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2286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10800000">
            <a:off x="4572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0800000">
            <a:off x="6858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9144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10800000">
            <a:off x="11430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13716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10800000">
            <a:off x="16002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68153" y="3813248"/>
            <a:ext cx="10551695" cy="197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3"/>
              </a:lnSpc>
            </a:pPr>
            <a:r>
              <a:rPr lang="en-US" sz="12599">
                <a:solidFill>
                  <a:srgbClr val="4245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LIVE DEMO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2286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10800000">
            <a:off x="4572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0800000">
            <a:off x="6858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9144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10800000">
            <a:off x="11430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13716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10800000">
            <a:off x="16002000" y="8628611"/>
            <a:ext cx="2286000" cy="1658389"/>
          </a:xfrm>
          <a:custGeom>
            <a:avLst/>
            <a:gdLst/>
            <a:ahLst/>
            <a:cxnLst/>
            <a:rect r="r" b="b" t="t" l="l"/>
            <a:pathLst>
              <a:path h="1658389" w="2286000">
                <a:moveTo>
                  <a:pt x="0" y="1658389"/>
                </a:moveTo>
                <a:lnTo>
                  <a:pt x="2286000" y="1658389"/>
                </a:lnTo>
                <a:lnTo>
                  <a:pt x="2286000" y="0"/>
                </a:lnTo>
                <a:lnTo>
                  <a:pt x="0" y="0"/>
                </a:lnTo>
                <a:lnTo>
                  <a:pt x="0" y="16583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68153" y="3813248"/>
            <a:ext cx="10551695" cy="197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3"/>
              </a:lnSpc>
            </a:pPr>
            <a:r>
              <a:rPr lang="en-US" sz="12599">
                <a:solidFill>
                  <a:srgbClr val="4245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DAG3zbLAeWc</dc:identifier>
  <dcterms:modified xsi:type="dcterms:W3CDTF">2011-08-01T06:04:30Z</dcterms:modified>
  <cp:revision>1</cp:revision>
  <dc:title>Copy of Green Tosca and White Transparent  Geometric Thesis Defense Presentation</dc:title>
</cp:coreProperties>
</file>